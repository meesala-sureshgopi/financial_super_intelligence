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  <p:embeddedFont>
      <p:font typeface="Urbanist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ExtraBold-boldItalic.fntdata"/><Relationship Id="rId30" Type="http://schemas.openxmlformats.org/officeDocument/2006/relationships/font" Target="fonts/Urbanist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33bc8d6f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33bc8d6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33bc8d6f1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33bc8d6f1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50864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PRODUCT DEMO &amp; TECH DEEP-DIVE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50914"/>
            <a:ext cx="11601450" cy="123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FINSI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FINANCIAL SUPER INTELLIGENCE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97579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AI-powered investment copilot for Indian equity intelligence. Multi-agent AI + portfolio-aware decision support.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8862"/>
            <a:ext cx="52387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28862"/>
            <a:ext cx="52387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7193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29088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INFORMATION OVERLOAD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757612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Retail investors face raw data dumps without synthesis. Price charts, filings, and news are isolated, leading to </a:t>
            </a: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analysis paralysis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and missed signals.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7193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772275" y="329088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DISCONNECTED WORKFLOW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75761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Generic research tools aren't portfolio-aware. Interpreting a BSE filing's impact on a specific holding requires manual, error-prone effort.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FRAGMENTED MARKET PROBLEM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049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17049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UNIFIED DECISION WORKFLOW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1717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FinSI combines market data, technical indicators, and portfolio awareness into a single, cohesive terminal.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04875" y="3067050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One-Click Analysis:</a:t>
            </a: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Instant expert verdicts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04875" y="3505200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Contextual Signals:</a:t>
            </a: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Bullish/Bearish reasoning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3943350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Embedded Copilot:</a:t>
            </a: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Follow-up via Gemini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04875" y="4381500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Portfolio Bridge:</a:t>
            </a: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Signals mapped to holdings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067050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505200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943350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381500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FINSI ECOSYSTEM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9681" r="10637" t="8500"/>
          <a:stretch/>
        </p:blipFill>
        <p:spPr>
          <a:xfrm>
            <a:off x="5652750" y="1047750"/>
            <a:ext cx="6296223" cy="47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3750"/>
            <a:ext cx="12192001" cy="562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5" y="229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71500" y="3943350"/>
            <a:ext cx="11049000" cy="1905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1489695" y="42481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21742" y="3733800"/>
            <a:ext cx="208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01. DISCOVERY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4267200"/>
            <a:ext cx="1988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User searches for a stock or Indian company ticker.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3754710" y="42481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2786670" y="3696600"/>
            <a:ext cx="208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02. AI SCRUTINY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2836515" y="4267200"/>
            <a:ext cx="1988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Multi-agent pipeline runs automated analysis.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6019725" y="42481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051685" y="3696600"/>
            <a:ext cx="208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03. INTEL DELIVERY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101530" y="4267200"/>
            <a:ext cx="1988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Dashboard displays verdict, chart, and relevance.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8284740" y="42481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316700" y="3696600"/>
            <a:ext cx="208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04. PORTFOLIO ACTION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366545" y="4495800"/>
            <a:ext cx="19887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Add/Remove stocks from demo holdings.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10549756" y="42481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9581716" y="3696600"/>
            <a:ext cx="208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05. DEEP-DIVE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631560" y="4267200"/>
            <a:ext cx="1988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Ask follow-up questions to the Gemini Copilot.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HOW THE USER JOURNEY WORKS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2387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57250" y="2776537"/>
            <a:ext cx="49006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CORE STACK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57250" y="3243262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React + Vite (Modern SPA)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FastAPI (Asynchronous Orchestration)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AI: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Gemini 3.1 Flash (Main Reasoning)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Storage: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SQLite + ChromaDB (Vector Search)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81750" y="24907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REASONING DESIGN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15125" y="2957512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The frontend remains thin for high performance.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715125" y="3395662"/>
            <a:ext cx="49053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Backend owns the reasoning and signal generation.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15125" y="4081462"/>
            <a:ext cx="49053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ChromaDB enables RAG-based context enrichment.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715125" y="4767262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yfinance and NSE provide the data backbone.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81750" y="295751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81750" y="33956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40814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47672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ARCHITECTURE: THE REASONING ENGINE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3650"/>
            <a:ext cx="3492549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33650"/>
            <a:ext cx="3492549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33650"/>
            <a:ext cx="3492549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857250" y="349567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SIGNAL RADAR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57250" y="3962400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Detects initiating events and enriches scans with real-time news context.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635549" y="349567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CHART INTEL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635549" y="396240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Calculates RSI, trends, and 52-week positioning technicals.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413849" y="349567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CONTEXT ENRICH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13849" y="396240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Pulls company filing data through vector retrieval (RAG).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876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8765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8765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7-AGENT REASONING PIPELINE (I)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6050"/>
            <a:ext cx="3492549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86050"/>
            <a:ext cx="3492549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86050"/>
            <a:ext cx="3492549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857250" y="364807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CONFLICT RESOLVER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57250" y="411480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Resolves contradictory signals into a definitive net direction.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635549" y="364807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PORTFOLIO AGENT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635549" y="411480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Maps findings directly to the user's current equity holdings.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413849" y="364807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ACTION GEN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413849" y="411480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Generates the final verdict, reasoning, and output payload.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30289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30289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30289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7-AGENT REASONING PIPELINE (II)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762000" y="5715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TERMINAL DESIGN LANGUAGE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571500"/>
            <a:ext cx="38100" cy="9144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256698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DECISION-READY UI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30337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Designed like a brokerage-inspired terminal for high feature density and rapid interpretation.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04875" y="3833812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Autonomous signal alert stream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04875" y="4271962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Multi-mode candlestick charts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04875" y="4710112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AI Verdict &amp; Confidence cards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04875" y="5148262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Synthesis panels for deep context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383381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42719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471011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51482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2150" y="1725425"/>
            <a:ext cx="6046199" cy="3582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71500" y="297180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00FF9D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1:1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440055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SIGNAL MAPPING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62750" y="2433637"/>
            <a:ext cx="51006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NOT ALL SIGNALS ARE EQUAL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62750" y="29003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FinSI contextualizes every market movement based on your skin in the game.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096125" y="3700462"/>
            <a:ext cx="4524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Detects holdings and average buy price.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096125" y="4138612"/>
            <a:ext cx="45243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Calculates estimated impact on portfolio value.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096125" y="4824412"/>
            <a:ext cx="4524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Flags risks specific to current exposure.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762750" y="37004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762750" y="413861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762750" y="482441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PORTFOLIO-AWARE SUPPORT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6381750" y="209073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FF9D"/>
                </a:solidFill>
                <a:latin typeface="Urbanist"/>
                <a:ea typeface="Urbanist"/>
                <a:cs typeface="Urbanist"/>
                <a:sym typeface="Urbanist"/>
              </a:rPr>
              <a:t>ANALYSIS-AWARE CHAT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381750" y="25574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Unlike generic LLMs, the embedded FinSI copilot reasons over the </a:t>
            </a:r>
            <a:r>
              <a:rPr b="1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live app state</a:t>
            </a:r>
            <a:r>
              <a:rPr b="0" i="0" lang="en-US" sz="150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715125" y="3357562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Reasons over latest saved analysis snapshots.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715125" y="3795712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Contextualized by portfolio holdings.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715125" y="4233862"/>
            <a:ext cx="49053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Uses </a:t>
            </a:r>
            <a:r>
              <a:rPr b="1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Gemini 3.1 Flash</a:t>
            </a: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for rapid, low-latency reasoning.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715125" y="4919662"/>
            <a:ext cx="49053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Fetches recent web results for late-breaking news.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381750" y="33575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381750" y="379571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381750" y="42338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381750" y="491966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F9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GEMINI 3.1 POWERED COPILOT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71500" y="571500"/>
            <a:ext cx="38100" cy="457200"/>
          </a:xfrm>
          <a:prstGeom prst="rect">
            <a:avLst/>
          </a:prstGeom>
          <a:solidFill>
            <a:srgbClr val="00FF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3"/>
          <p:cNvPicPr preferRelativeResize="0"/>
          <p:nvPr/>
        </p:nvPicPr>
        <p:blipFill rotWithShape="1">
          <a:blip r:embed="rId4">
            <a:alphaModFix/>
          </a:blip>
          <a:srcRect b="17026" l="0" r="0" t="0"/>
          <a:stretch/>
        </p:blipFill>
        <p:spPr>
          <a:xfrm>
            <a:off x="872600" y="1854525"/>
            <a:ext cx="4695825" cy="37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305276" y="1752600"/>
            <a:ext cx="1158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FinSI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1809750" y="2676525"/>
            <a:ext cx="85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Transforming fragmented Indian market data into explainable, portfolio-aware AI intelligence.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81025" y="4162425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ticker search to expert verdict.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05276" y="4638675"/>
            <a:ext cx="1158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